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61" r:id="rId5"/>
    <p:sldId id="258" r:id="rId6"/>
    <p:sldId id="259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 varScale="1">
        <p:scale>
          <a:sx n="83" d="100"/>
          <a:sy n="83" d="100"/>
        </p:scale>
        <p:origin x="39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995B1-F7E6-31E5-75B4-3A042BDB89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3A9254-1F50-61F4-312B-60E4E5361D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DB474E-5B7A-F3D9-9254-44C68CCF0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A9923-225F-4F40-9173-9954B57C1E91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BF6540-0CF3-35AA-387C-F1769D49C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2173F2-DD27-EA29-5680-EB04DFC88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984B7-F4A5-4253-925D-14ED6FA0F3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4327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3BC86-45CE-CEEA-448E-D784A3515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AF067A-7B6B-A311-7B56-D589D00551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9911B9-5400-A952-4FCF-D82DB0BA4A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A9923-225F-4F40-9173-9954B57C1E91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BE1ED7-E9CA-8270-044F-E03453388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190B36-1BD8-AF57-C4DE-0B90D7261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984B7-F4A5-4253-925D-14ED6FA0F3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578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95C77-75A6-E3E0-DF66-B2A99747B4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40C683-51C7-7255-3BC6-4DA2D4FC74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1DDAC4-CE9D-4CB5-5493-9212EFD85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A9923-225F-4F40-9173-9954B57C1E91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16918A-81F9-F2B3-DB03-4B4D477F7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8F482A-6E80-C0D0-D082-05415FD45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984B7-F4A5-4253-925D-14ED6FA0F3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8951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F0623-63DC-772C-4299-77F2E9C58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441742-8770-B725-67CE-311476A960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7EED48-CE41-E101-F951-02CF40382F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88CDEC-8F73-298D-D517-64A0B2EBF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A9923-225F-4F40-9173-9954B57C1E91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DCEDEB-35A6-F25E-1B0B-B886A6992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B018C9-CC68-9847-5E43-702FD4F14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984B7-F4A5-4253-925D-14ED6FA0F3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9251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320FE-B9AC-5916-99A7-9B1F5C808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896AD9-D76A-779E-00D7-517AE5B7EB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944CA3-2FC0-C4C5-74AC-C2E744E7DB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6D8538-1355-8F26-8ACB-1529C30027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796488-E0F7-99E5-3B4E-04B4ED9BEB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54752B9-AAFD-5B59-B489-BEAA0A73E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A9923-225F-4F40-9173-9954B57C1E91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C66C23-8593-E9E5-B614-3744EE6E5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590835-1317-4BA8-91F4-93E874AAF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984B7-F4A5-4253-925D-14ED6FA0F3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9699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0A49A-BFF4-524D-6977-FAE94E994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1881B2-E45F-4BD5-337B-3E8FE525C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A9923-225F-4F40-9173-9954B57C1E91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D772C7-9674-02DE-BC5F-EF0E884B16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4D406A-3003-848F-27B3-12BFA9E4C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984B7-F4A5-4253-925D-14ED6FA0F3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961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31BF29-B913-C70A-5D56-D61A97B49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A9923-225F-4F40-9173-9954B57C1E91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CD1837-612E-32EF-3B8B-1A0543994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EEA120-3250-C752-47B5-8C096C1EC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984B7-F4A5-4253-925D-14ED6FA0F3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2146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3887D-3E0E-AD4A-E935-7E451B427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FE1F93-ECAA-8886-0F84-1A93E65A7B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3083D1-9E6A-FABE-3E54-6793C5A9F9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F78005-3D1D-1639-B30E-6134A8D56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A9923-225F-4F40-9173-9954B57C1E91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4E2270-0B97-F4C6-9C9E-E54FFD6E3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2DDE93-1A4F-AA1E-9386-E5373F5DE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984B7-F4A5-4253-925D-14ED6FA0F3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1036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BFE72-6450-17B9-2C66-A068B319F9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2627856-B27E-3008-3EF2-A047471F04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9C624B-46C3-B4F3-5A04-9522A29D36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AB96B7-DF80-C50F-95A0-D19D6B4F1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A9923-225F-4F40-9173-9954B57C1E91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F036CB-1564-BBDC-B7BC-9A3CF769D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07FCFF-6161-6741-A56F-08303B84D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984B7-F4A5-4253-925D-14ED6FA0F3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1464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5CE5A-88DA-F158-B3DE-3606850CD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B7028C-E29A-9D17-88DC-14FF380BD7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07377-3B14-5F74-074C-DCAEF18B2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A9923-225F-4F40-9173-9954B57C1E91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950A84-C7FC-577D-8FB4-5A5FEDA3B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A7389C-5338-CDF8-4E95-70D33644B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984B7-F4A5-4253-925D-14ED6FA0F3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9034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489BF57-3CC4-285D-3AC9-D4DF020E06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07998C-46E7-375C-DBC4-358A7E4CF1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6C0BAC-BA04-606F-D327-F1DF56891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A9923-225F-4F40-9173-9954B57C1E91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20FBF6-AD5F-7220-A83F-02FFF5932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2A9FAB-D513-3B6C-7935-09FADC46A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984B7-F4A5-4253-925D-14ED6FA0F3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2324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5145E3-74A3-042E-3677-A608B75AF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32074C-303B-9694-3E0F-69959F911D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2507AE-85E3-8E30-0BBC-10328ADB60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1A9923-225F-4F40-9173-9954B57C1E91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17AD03-DD73-CA3B-665E-1D04390E31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23965C-4B04-97F4-F265-03DD357A97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9984B7-F4A5-4253-925D-14ED6FA0F3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683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F76A1BC-E0C4-698D-CA56-DBA7D1AA91BA}"/>
              </a:ext>
            </a:extLst>
          </p:cNvPr>
          <p:cNvSpPr/>
          <p:nvPr/>
        </p:nvSpPr>
        <p:spPr>
          <a:xfrm>
            <a:off x="636915" y="7516"/>
            <a:ext cx="1880558" cy="146074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80DCA7C-DA1C-305F-888F-72792B1592EA}"/>
              </a:ext>
            </a:extLst>
          </p:cNvPr>
          <p:cNvSpPr/>
          <p:nvPr/>
        </p:nvSpPr>
        <p:spPr>
          <a:xfrm>
            <a:off x="-18693" y="0"/>
            <a:ext cx="655608" cy="68655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894CF6D-F2D7-ABB3-163F-9260A8AA987F}"/>
              </a:ext>
            </a:extLst>
          </p:cNvPr>
          <p:cNvSpPr/>
          <p:nvPr/>
        </p:nvSpPr>
        <p:spPr>
          <a:xfrm>
            <a:off x="3900055" y="278226"/>
            <a:ext cx="1811671" cy="101791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18C17A0-78CE-A3D6-D2E6-C05F6AD38738}"/>
              </a:ext>
            </a:extLst>
          </p:cNvPr>
          <p:cNvSpPr/>
          <p:nvPr/>
        </p:nvSpPr>
        <p:spPr>
          <a:xfrm>
            <a:off x="5956142" y="305380"/>
            <a:ext cx="1757047" cy="102883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055EE40-8F4C-15B2-F7EE-A70697CC24CB}"/>
              </a:ext>
            </a:extLst>
          </p:cNvPr>
          <p:cNvSpPr/>
          <p:nvPr/>
        </p:nvSpPr>
        <p:spPr>
          <a:xfrm>
            <a:off x="8010797" y="305381"/>
            <a:ext cx="1757046" cy="101791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2F97646-AFCA-679B-00F8-B8B33948BD48}"/>
              </a:ext>
            </a:extLst>
          </p:cNvPr>
          <p:cNvSpPr/>
          <p:nvPr/>
        </p:nvSpPr>
        <p:spPr>
          <a:xfrm>
            <a:off x="10256674" y="318944"/>
            <a:ext cx="1757046" cy="9785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1DC99AC-C3E3-EE77-CFB9-B67E53DD4F37}"/>
              </a:ext>
            </a:extLst>
          </p:cNvPr>
          <p:cNvSpPr txBox="1"/>
          <p:nvPr/>
        </p:nvSpPr>
        <p:spPr>
          <a:xfrm>
            <a:off x="4048922" y="561093"/>
            <a:ext cx="15139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Total Revenue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F9A3737-56BE-43A8-1E36-664EEE469196}"/>
              </a:ext>
            </a:extLst>
          </p:cNvPr>
          <p:cNvSpPr txBox="1"/>
          <p:nvPr/>
        </p:nvSpPr>
        <p:spPr>
          <a:xfrm>
            <a:off x="8243979" y="644067"/>
            <a:ext cx="13902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Average Sale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C00FD3-1F27-2CFC-3BD6-81D1B5C2CCF9}"/>
              </a:ext>
            </a:extLst>
          </p:cNvPr>
          <p:cNvSpPr txBox="1"/>
          <p:nvPr/>
        </p:nvSpPr>
        <p:spPr>
          <a:xfrm>
            <a:off x="6199186" y="609394"/>
            <a:ext cx="12709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Total Orders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3FFF7E4-5EB2-6B07-3255-A8B34E17BEE8}"/>
              </a:ext>
            </a:extLst>
          </p:cNvPr>
          <p:cNvSpPr txBox="1"/>
          <p:nvPr/>
        </p:nvSpPr>
        <p:spPr>
          <a:xfrm>
            <a:off x="10422149" y="601033"/>
            <a:ext cx="15915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All-Time Profit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9D2DC81-F509-F08D-8C72-03E66D2C1AA9}"/>
              </a:ext>
            </a:extLst>
          </p:cNvPr>
          <p:cNvSpPr/>
          <p:nvPr/>
        </p:nvSpPr>
        <p:spPr>
          <a:xfrm>
            <a:off x="655608" y="1468256"/>
            <a:ext cx="6287220" cy="3218764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0B2222A-2084-EF7A-8F34-423F0469B0AC}"/>
              </a:ext>
            </a:extLst>
          </p:cNvPr>
          <p:cNvSpPr txBox="1"/>
          <p:nvPr/>
        </p:nvSpPr>
        <p:spPr>
          <a:xfrm>
            <a:off x="1454989" y="2149462"/>
            <a:ext cx="42269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Trend line for company revenue</a:t>
            </a:r>
          </a:p>
          <a:p>
            <a:r>
              <a:rPr lang="en-US" dirty="0"/>
              <a:t>Trend line for company profit</a:t>
            </a:r>
          </a:p>
          <a:p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663354E-A14E-E919-CAC6-00A184B39DCB}"/>
              </a:ext>
            </a:extLst>
          </p:cNvPr>
          <p:cNvSpPr/>
          <p:nvPr/>
        </p:nvSpPr>
        <p:spPr>
          <a:xfrm>
            <a:off x="7085161" y="1460740"/>
            <a:ext cx="5026326" cy="3249283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EF264D3-9740-DA54-E11F-86882A1C20B3}"/>
              </a:ext>
            </a:extLst>
          </p:cNvPr>
          <p:cNvSpPr txBox="1"/>
          <p:nvPr/>
        </p:nvSpPr>
        <p:spPr>
          <a:xfrm>
            <a:off x="7372711" y="2503047"/>
            <a:ext cx="42269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Trend line for Orders over the years</a:t>
            </a:r>
          </a:p>
          <a:p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81C8D50-50C6-E0BF-015B-2C346860B1A1}"/>
              </a:ext>
            </a:extLst>
          </p:cNvPr>
          <p:cNvSpPr/>
          <p:nvPr/>
        </p:nvSpPr>
        <p:spPr>
          <a:xfrm>
            <a:off x="7085161" y="4790537"/>
            <a:ext cx="5105397" cy="1968448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7223688-99C5-48F6-8061-325B4BEFFCD3}"/>
              </a:ext>
            </a:extLst>
          </p:cNvPr>
          <p:cNvSpPr txBox="1"/>
          <p:nvPr/>
        </p:nvSpPr>
        <p:spPr>
          <a:xfrm>
            <a:off x="7916173" y="5403178"/>
            <a:ext cx="34821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Date Slicer to control visuals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48C32B9-F0C7-BD37-47AC-96C6FB114D87}"/>
              </a:ext>
            </a:extLst>
          </p:cNvPr>
          <p:cNvSpPr/>
          <p:nvPr/>
        </p:nvSpPr>
        <p:spPr>
          <a:xfrm>
            <a:off x="655609" y="4790537"/>
            <a:ext cx="6287219" cy="1963946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53CA13F-5F81-95BB-FCD9-E14CAB5F75D6}"/>
              </a:ext>
            </a:extLst>
          </p:cNvPr>
          <p:cNvSpPr txBox="1"/>
          <p:nvPr/>
        </p:nvSpPr>
        <p:spPr>
          <a:xfrm>
            <a:off x="1348596" y="5310845"/>
            <a:ext cx="422694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Bar chart with customer over the years</a:t>
            </a:r>
          </a:p>
          <a:p>
            <a:r>
              <a:rPr lang="en-US" dirty="0"/>
              <a:t>*</a:t>
            </a:r>
            <a:r>
              <a:rPr lang="en-US" sz="1000" dirty="0"/>
              <a:t>Not necessarily new customers, but that simply purchased something that year (bikes exclusively)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31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F254DD-C83C-61BC-C94B-197203384F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0660"/>
            <a:ext cx="10515600" cy="5260975"/>
          </a:xfrm>
        </p:spPr>
        <p:txBody>
          <a:bodyPr/>
          <a:lstStyle/>
          <a:p>
            <a:r>
              <a:rPr lang="en-US" sz="1600" dirty="0"/>
              <a:t>We can compare the revenue to the profit across time</a:t>
            </a:r>
          </a:p>
          <a:p>
            <a:r>
              <a:rPr lang="en-US" sz="1600" dirty="0"/>
              <a:t>See how many customers are purchasing our bikes each year</a:t>
            </a:r>
          </a:p>
          <a:p>
            <a:r>
              <a:rPr lang="en-US" sz="1600" dirty="0"/>
              <a:t>See how our order numbers are changing across the years.</a:t>
            </a:r>
          </a:p>
          <a:p>
            <a:pPr marL="0" indent="0">
              <a:buNone/>
            </a:pPr>
            <a:r>
              <a:rPr lang="en-US" sz="1600" dirty="0"/>
              <a:t>This provides a great overall general summary for managers to get an idea of how the company is performing.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b="1" dirty="0"/>
              <a:t>Measures</a:t>
            </a:r>
            <a:r>
              <a:rPr lang="en-US" sz="1600" dirty="0"/>
              <a:t>:</a:t>
            </a:r>
          </a:p>
          <a:p>
            <a:pPr marL="0" indent="0">
              <a:buNone/>
            </a:pPr>
            <a:r>
              <a:rPr lang="en-US" sz="1600" dirty="0">
                <a:highlight>
                  <a:srgbClr val="00FF00"/>
                </a:highlight>
              </a:rPr>
              <a:t>Total Revenue</a:t>
            </a:r>
          </a:p>
          <a:p>
            <a:pPr marL="0" indent="0">
              <a:buNone/>
            </a:pPr>
            <a:r>
              <a:rPr lang="en-US" sz="1600" dirty="0">
                <a:highlight>
                  <a:srgbClr val="00FF00"/>
                </a:highlight>
              </a:rPr>
              <a:t>Total Orders</a:t>
            </a:r>
          </a:p>
          <a:p>
            <a:pPr marL="0" indent="0">
              <a:buNone/>
            </a:pPr>
            <a:r>
              <a:rPr lang="en-US" sz="1600" dirty="0">
                <a:highlight>
                  <a:srgbClr val="00FF00"/>
                </a:highlight>
              </a:rPr>
              <a:t>Average Sale  (ORDER VALUE)</a:t>
            </a:r>
          </a:p>
          <a:p>
            <a:pPr marL="0" indent="0">
              <a:buNone/>
            </a:pPr>
            <a:r>
              <a:rPr lang="en-US" sz="1600" dirty="0">
                <a:highlight>
                  <a:srgbClr val="00FF00"/>
                </a:highlight>
              </a:rPr>
              <a:t>All-Time Profit</a:t>
            </a:r>
          </a:p>
          <a:p>
            <a:pPr marL="0" indent="0">
              <a:buNone/>
            </a:pPr>
            <a:r>
              <a:rPr lang="en-US" sz="1600" dirty="0">
                <a:highlight>
                  <a:srgbClr val="00FF00"/>
                </a:highlight>
              </a:rPr>
              <a:t>Distinct Bike Customers</a:t>
            </a:r>
          </a:p>
        </p:txBody>
      </p:sp>
    </p:spTree>
    <p:extLst>
      <p:ext uri="{BB962C8B-B14F-4D97-AF65-F5344CB8AC3E}">
        <p14:creationId xmlns:p14="http://schemas.microsoft.com/office/powerpoint/2010/main" val="41916815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38855E7-689F-3CDB-4641-374D56C1DA17}"/>
              </a:ext>
            </a:extLst>
          </p:cNvPr>
          <p:cNvSpPr/>
          <p:nvPr/>
        </p:nvSpPr>
        <p:spPr>
          <a:xfrm>
            <a:off x="0" y="-1"/>
            <a:ext cx="12192000" cy="56665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51904B-2E02-5E80-671A-509F72948CED}"/>
              </a:ext>
            </a:extLst>
          </p:cNvPr>
          <p:cNvSpPr txBox="1"/>
          <p:nvPr/>
        </p:nvSpPr>
        <p:spPr>
          <a:xfrm>
            <a:off x="5257800" y="2463922"/>
            <a:ext cx="198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Map of Countries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FFD67C-F5F4-FFDD-E54D-23DBCE3E6B26}"/>
              </a:ext>
            </a:extLst>
          </p:cNvPr>
          <p:cNvSpPr txBox="1"/>
          <p:nvPr/>
        </p:nvSpPr>
        <p:spPr>
          <a:xfrm>
            <a:off x="0" y="5728854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Buttons for selecting the years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67F99EC-04F3-1B4A-960F-2706C60DBCEA}"/>
              </a:ext>
            </a:extLst>
          </p:cNvPr>
          <p:cNvSpPr/>
          <p:nvPr/>
        </p:nvSpPr>
        <p:spPr>
          <a:xfrm>
            <a:off x="0" y="1"/>
            <a:ext cx="655608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4558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2BA048-E6A0-3F29-9C81-6AD0ACDC6A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6A884E-C0AB-DE10-8C74-8D5DDD717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0660"/>
            <a:ext cx="10515600" cy="5260975"/>
          </a:xfrm>
        </p:spPr>
        <p:txBody>
          <a:bodyPr/>
          <a:lstStyle/>
          <a:p>
            <a:r>
              <a:rPr lang="en-US" sz="1800" dirty="0"/>
              <a:t>We will have bubbles representing the Revenue (blue)</a:t>
            </a:r>
          </a:p>
          <a:p>
            <a:endParaRPr lang="en-US" sz="18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44711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C1784C-2DC1-21A8-5E33-4727D756A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8120880-9C51-1BD3-3EDD-2B596289C480}"/>
              </a:ext>
            </a:extLst>
          </p:cNvPr>
          <p:cNvSpPr/>
          <p:nvPr/>
        </p:nvSpPr>
        <p:spPr>
          <a:xfrm>
            <a:off x="0" y="0"/>
            <a:ext cx="655608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ED19FED-4588-46B5-A638-7B7C552E475D}"/>
              </a:ext>
            </a:extLst>
          </p:cNvPr>
          <p:cNvSpPr/>
          <p:nvPr/>
        </p:nvSpPr>
        <p:spPr>
          <a:xfrm>
            <a:off x="655608" y="13854"/>
            <a:ext cx="6287220" cy="3249283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F5FF25E-F1CA-C6EE-C9E1-1448A61ACE2B}"/>
              </a:ext>
            </a:extLst>
          </p:cNvPr>
          <p:cNvSpPr/>
          <p:nvPr/>
        </p:nvSpPr>
        <p:spPr>
          <a:xfrm>
            <a:off x="7077844" y="0"/>
            <a:ext cx="5026326" cy="3249283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885DA70-739B-83D6-350A-815A6E6C5E2F}"/>
              </a:ext>
            </a:extLst>
          </p:cNvPr>
          <p:cNvSpPr txBox="1"/>
          <p:nvPr/>
        </p:nvSpPr>
        <p:spPr>
          <a:xfrm>
            <a:off x="2183460" y="1719365"/>
            <a:ext cx="42269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Trend line for sub-categories (revenue)</a:t>
            </a:r>
          </a:p>
          <a:p>
            <a:r>
              <a:rPr lang="en-US" dirty="0"/>
              <a:t>Trend line for sub-categories (quantity)</a:t>
            </a:r>
          </a:p>
          <a:p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BB573DB-200E-BE5A-24C3-EF4F26F361BD}"/>
              </a:ext>
            </a:extLst>
          </p:cNvPr>
          <p:cNvSpPr/>
          <p:nvPr/>
        </p:nvSpPr>
        <p:spPr>
          <a:xfrm>
            <a:off x="741029" y="3406973"/>
            <a:ext cx="5026326" cy="337397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5A6E47C-8A4E-8397-143A-3A3059E931B6}"/>
              </a:ext>
            </a:extLst>
          </p:cNvPr>
          <p:cNvSpPr txBox="1"/>
          <p:nvPr/>
        </p:nvSpPr>
        <p:spPr>
          <a:xfrm>
            <a:off x="1731178" y="4092923"/>
            <a:ext cx="34821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Matrix of sub-categories: Average price for 2011, 2012 &amp; 2013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32FD9C5-9051-919E-39C4-F6F8CF9A2861}"/>
              </a:ext>
            </a:extLst>
          </p:cNvPr>
          <p:cNvSpPr txBox="1"/>
          <p:nvPr/>
        </p:nvSpPr>
        <p:spPr>
          <a:xfrm>
            <a:off x="7665190" y="1398457"/>
            <a:ext cx="42269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Bar chart with sub-categories by revenue</a:t>
            </a:r>
          </a:p>
          <a:p>
            <a:endParaRPr lang="en-US" dirty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BCE8ACCB-3932-79E0-8D59-1BD25FA138CB}"/>
              </a:ext>
            </a:extLst>
          </p:cNvPr>
          <p:cNvSpPr/>
          <p:nvPr/>
        </p:nvSpPr>
        <p:spPr>
          <a:xfrm>
            <a:off x="5862043" y="3674032"/>
            <a:ext cx="1967346" cy="194741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5299C873-D8CF-5833-5A15-A0AA4897F239}"/>
              </a:ext>
            </a:extLst>
          </p:cNvPr>
          <p:cNvSpPr/>
          <p:nvPr/>
        </p:nvSpPr>
        <p:spPr>
          <a:xfrm>
            <a:off x="7929049" y="3674032"/>
            <a:ext cx="1967346" cy="194741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B52A6AC-A333-518E-C8AF-B9E2EE97C14C}"/>
              </a:ext>
            </a:extLst>
          </p:cNvPr>
          <p:cNvSpPr/>
          <p:nvPr/>
        </p:nvSpPr>
        <p:spPr>
          <a:xfrm>
            <a:off x="10023764" y="3664527"/>
            <a:ext cx="1967346" cy="194741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04AE28C-B6BF-64D0-254D-760E424C700A}"/>
              </a:ext>
            </a:extLst>
          </p:cNvPr>
          <p:cNvSpPr txBox="1"/>
          <p:nvPr/>
        </p:nvSpPr>
        <p:spPr>
          <a:xfrm>
            <a:off x="6181183" y="4295182"/>
            <a:ext cx="1484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Bike gauge subcategory 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4114866-EE8A-BED5-2DDB-52AE9A73756A}"/>
              </a:ext>
            </a:extLst>
          </p:cNvPr>
          <p:cNvSpPr txBox="1"/>
          <p:nvPr/>
        </p:nvSpPr>
        <p:spPr>
          <a:xfrm>
            <a:off x="10331016" y="4295181"/>
            <a:ext cx="1484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Bike gauge subcategory 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FE7FDE5-B434-F56B-E746-2D3AF62D07D0}"/>
              </a:ext>
            </a:extLst>
          </p:cNvPr>
          <p:cNvSpPr txBox="1"/>
          <p:nvPr/>
        </p:nvSpPr>
        <p:spPr>
          <a:xfrm>
            <a:off x="8107361" y="4355352"/>
            <a:ext cx="1484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Bike gauge subcategory 2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209FF5A-817A-0396-0FBB-C4980F49DBC4}"/>
              </a:ext>
            </a:extLst>
          </p:cNvPr>
          <p:cNvSpPr/>
          <p:nvPr/>
        </p:nvSpPr>
        <p:spPr>
          <a:xfrm>
            <a:off x="6121185" y="6046458"/>
            <a:ext cx="1066800" cy="512619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E48A112-5B2A-80BE-38D3-4D86B78C37C5}"/>
              </a:ext>
            </a:extLst>
          </p:cNvPr>
          <p:cNvSpPr/>
          <p:nvPr/>
        </p:nvSpPr>
        <p:spPr>
          <a:xfrm>
            <a:off x="7589396" y="6046458"/>
            <a:ext cx="1066800" cy="512619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B115C95-4E0A-26A2-57E2-02D836E4237B}"/>
              </a:ext>
            </a:extLst>
          </p:cNvPr>
          <p:cNvSpPr/>
          <p:nvPr/>
        </p:nvSpPr>
        <p:spPr>
          <a:xfrm>
            <a:off x="9057607" y="6046458"/>
            <a:ext cx="1066800" cy="512619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5FF6C45-64CA-2A0D-14DF-D6F6E0B421DB}"/>
              </a:ext>
            </a:extLst>
          </p:cNvPr>
          <p:cNvSpPr/>
          <p:nvPr/>
        </p:nvSpPr>
        <p:spPr>
          <a:xfrm>
            <a:off x="10525818" y="6046458"/>
            <a:ext cx="1066800" cy="512619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ADD4409-F041-63AE-3801-F33442B710B1}"/>
              </a:ext>
            </a:extLst>
          </p:cNvPr>
          <p:cNvSpPr txBox="1"/>
          <p:nvPr/>
        </p:nvSpPr>
        <p:spPr>
          <a:xfrm>
            <a:off x="10695957" y="6142121"/>
            <a:ext cx="8966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Year 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ACF6930-1DF4-1CB0-3BDB-6A2A841A7FFD}"/>
              </a:ext>
            </a:extLst>
          </p:cNvPr>
          <p:cNvSpPr txBox="1"/>
          <p:nvPr/>
        </p:nvSpPr>
        <p:spPr>
          <a:xfrm>
            <a:off x="6310561" y="6118101"/>
            <a:ext cx="8966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Year 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49D2581-7492-67FF-39D0-731E28124FE1}"/>
              </a:ext>
            </a:extLst>
          </p:cNvPr>
          <p:cNvSpPr txBox="1"/>
          <p:nvPr/>
        </p:nvSpPr>
        <p:spPr>
          <a:xfrm>
            <a:off x="9227746" y="6146678"/>
            <a:ext cx="8966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Year 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1E1717D-2655-1799-8D3A-8FABA5A8736C}"/>
              </a:ext>
            </a:extLst>
          </p:cNvPr>
          <p:cNvSpPr txBox="1"/>
          <p:nvPr/>
        </p:nvSpPr>
        <p:spPr>
          <a:xfrm>
            <a:off x="7674465" y="6118101"/>
            <a:ext cx="8966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Year 2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818EECC-540F-9DBF-0BFE-332D04049876}"/>
              </a:ext>
            </a:extLst>
          </p:cNvPr>
          <p:cNvSpPr/>
          <p:nvPr/>
        </p:nvSpPr>
        <p:spPr>
          <a:xfrm>
            <a:off x="636915" y="7516"/>
            <a:ext cx="1880558" cy="146074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5052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12E307-A531-97EC-07B0-B7EFEF9B4B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23C02F-07A4-4494-428C-4354722967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0660"/>
            <a:ext cx="10515600" cy="5260975"/>
          </a:xfrm>
        </p:spPr>
        <p:txBody>
          <a:bodyPr>
            <a:normAutofit/>
          </a:bodyPr>
          <a:lstStyle/>
          <a:p>
            <a:r>
              <a:rPr lang="en-US" sz="1800" dirty="0"/>
              <a:t>The gauges will be filtered by the specific subcategory (will be fixed and not change)</a:t>
            </a:r>
          </a:p>
          <a:p>
            <a:r>
              <a:rPr lang="en-US" sz="1800"/>
              <a:t>Revenue in 2012 VS 201</a:t>
            </a:r>
            <a:r>
              <a:rPr lang="en-US" sz="1800" dirty="0"/>
              <a:t>3</a:t>
            </a:r>
            <a:endParaRPr lang="en-US" sz="1400" dirty="0"/>
          </a:p>
          <a:p>
            <a:r>
              <a:rPr lang="en-US" sz="1800" dirty="0"/>
              <a:t>Again, since we are looking at the general business operations, we do not go into specific product detail but rather stay at the sub-category level of droll-down.</a:t>
            </a:r>
          </a:p>
          <a:p>
            <a:r>
              <a:rPr lang="en-US" sz="1800" dirty="0"/>
              <a:t>We can observe how revenue and quantities are trending for each sub-category over time.</a:t>
            </a:r>
          </a:p>
          <a:p>
            <a:pPr lvl="1"/>
            <a:r>
              <a:rPr lang="en-US" sz="1800" dirty="0"/>
              <a:t>This way, we can use the information to forecast production &amp; analyze trends.</a:t>
            </a:r>
          </a:p>
        </p:txBody>
      </p:sp>
    </p:spTree>
    <p:extLst>
      <p:ext uri="{BB962C8B-B14F-4D97-AF65-F5344CB8AC3E}">
        <p14:creationId xmlns:p14="http://schemas.microsoft.com/office/powerpoint/2010/main" val="22274773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C95F1F-095A-A61D-A945-16B4D2698B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19B7C88-115A-059A-5E65-D45CEC400A01}"/>
              </a:ext>
            </a:extLst>
          </p:cNvPr>
          <p:cNvSpPr/>
          <p:nvPr/>
        </p:nvSpPr>
        <p:spPr>
          <a:xfrm>
            <a:off x="-18693" y="0"/>
            <a:ext cx="655608" cy="68655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5523903-B3AF-6E74-CDA1-ABC365B3571D}"/>
              </a:ext>
            </a:extLst>
          </p:cNvPr>
          <p:cNvSpPr/>
          <p:nvPr/>
        </p:nvSpPr>
        <p:spPr>
          <a:xfrm>
            <a:off x="636915" y="1"/>
            <a:ext cx="6438188" cy="5978236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258C5EC-AFD9-5182-3C83-8ACE3445B0E7}"/>
              </a:ext>
            </a:extLst>
          </p:cNvPr>
          <p:cNvSpPr txBox="1"/>
          <p:nvPr/>
        </p:nvSpPr>
        <p:spPr>
          <a:xfrm>
            <a:off x="1869057" y="2963576"/>
            <a:ext cx="42269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Map with bubble representing number of customers</a:t>
            </a:r>
          </a:p>
          <a:p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B3D1EB8-76C6-7616-3489-D070524E6C33}"/>
              </a:ext>
            </a:extLst>
          </p:cNvPr>
          <p:cNvSpPr txBox="1"/>
          <p:nvPr/>
        </p:nvSpPr>
        <p:spPr>
          <a:xfrm>
            <a:off x="9983475" y="774898"/>
            <a:ext cx="212817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Pie chart of customer buckets (VIP, Plus, Regular)</a:t>
            </a:r>
          </a:p>
          <a:p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09E9870-32E4-16F0-35EE-551C9DC5DB17}"/>
              </a:ext>
            </a:extLst>
          </p:cNvPr>
          <p:cNvSpPr/>
          <p:nvPr/>
        </p:nvSpPr>
        <p:spPr>
          <a:xfrm>
            <a:off x="636915" y="6134596"/>
            <a:ext cx="6498176" cy="723404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79CC69-84AA-4395-8BC4-DF60905094AA}"/>
              </a:ext>
            </a:extLst>
          </p:cNvPr>
          <p:cNvSpPr txBox="1"/>
          <p:nvPr/>
        </p:nvSpPr>
        <p:spPr>
          <a:xfrm>
            <a:off x="2241430" y="6307760"/>
            <a:ext cx="34821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Date Slicer to control visuals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6B53335F-7A22-C3E4-921F-C317121F6929}"/>
              </a:ext>
            </a:extLst>
          </p:cNvPr>
          <p:cNvSpPr/>
          <p:nvPr/>
        </p:nvSpPr>
        <p:spPr>
          <a:xfrm>
            <a:off x="7307849" y="128154"/>
            <a:ext cx="2523227" cy="249381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450238A-F140-E802-7BE9-E1AC3A64160E}"/>
              </a:ext>
            </a:extLst>
          </p:cNvPr>
          <p:cNvSpPr/>
          <p:nvPr/>
        </p:nvSpPr>
        <p:spPr>
          <a:xfrm>
            <a:off x="7307848" y="2985656"/>
            <a:ext cx="2523227" cy="249381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16CC3B0-EFB2-7856-3825-CA2AD015FC1B}"/>
              </a:ext>
            </a:extLst>
          </p:cNvPr>
          <p:cNvSpPr txBox="1"/>
          <p:nvPr/>
        </p:nvSpPr>
        <p:spPr>
          <a:xfrm>
            <a:off x="10063822" y="3557354"/>
            <a:ext cx="21281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Pie chart of sex demographic</a:t>
            </a:r>
          </a:p>
          <a:p>
            <a:endParaRPr lang="en-US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072A451-641D-6DC5-3401-98836568EADF}"/>
              </a:ext>
            </a:extLst>
          </p:cNvPr>
          <p:cNvSpPr/>
          <p:nvPr/>
        </p:nvSpPr>
        <p:spPr>
          <a:xfrm>
            <a:off x="7467600" y="5839691"/>
            <a:ext cx="2230582" cy="890155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2D2B0969-F05A-0906-92E3-8C14019CB94F}"/>
              </a:ext>
            </a:extLst>
          </p:cNvPr>
          <p:cNvSpPr/>
          <p:nvPr/>
        </p:nvSpPr>
        <p:spPr>
          <a:xfrm>
            <a:off x="9831075" y="5851860"/>
            <a:ext cx="2230582" cy="890155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52C7C8C-208C-E358-DD1C-05AB93EA6786}"/>
              </a:ext>
            </a:extLst>
          </p:cNvPr>
          <p:cNvSpPr txBox="1"/>
          <p:nvPr/>
        </p:nvSpPr>
        <p:spPr>
          <a:xfrm>
            <a:off x="7601440" y="6041005"/>
            <a:ext cx="19629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Total Customers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80D4285-0135-19D6-694F-400803B88ACE}"/>
              </a:ext>
            </a:extLst>
          </p:cNvPr>
          <p:cNvSpPr txBox="1"/>
          <p:nvPr/>
        </p:nvSpPr>
        <p:spPr>
          <a:xfrm>
            <a:off x="10412995" y="5852283"/>
            <a:ext cx="18361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Average Customer Spend</a:t>
            </a:r>
          </a:p>
        </p:txBody>
      </p:sp>
    </p:spTree>
    <p:extLst>
      <p:ext uri="{BB962C8B-B14F-4D97-AF65-F5344CB8AC3E}">
        <p14:creationId xmlns:p14="http://schemas.microsoft.com/office/powerpoint/2010/main" val="6538581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2947</TotalTime>
  <Words>308</Words>
  <Application>Microsoft Office PowerPoint</Application>
  <PresentationFormat>Widescreen</PresentationFormat>
  <Paragraphs>46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Cristian Cervantes</dc:creator>
  <cp:lastModifiedBy>Cristian Cervantes</cp:lastModifiedBy>
  <cp:revision>12</cp:revision>
  <dcterms:created xsi:type="dcterms:W3CDTF">2026-06-30T11:11:55Z</dcterms:created>
  <dcterms:modified xsi:type="dcterms:W3CDTF">2026-07-02T16:05:39Z</dcterms:modified>
</cp:coreProperties>
</file>